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25257db94e4a68" /><Relationship Type="http://schemas.openxmlformats.org/officeDocument/2006/relationships/extended-properties" Target="/docProps/app.xml" Id="R6bc42a738d374bbe" /><Relationship Type="http://schemas.openxmlformats.org/officeDocument/2006/relationships/officeDocument" Target="/ppt/presentation.xml" Id="Rceeb93e3911940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de4abb93554a68"/>
  </p:sldMasterIdLst>
  <p:notesMasterIdLst>
    <p:notesMasterId xmlns:r="http://schemas.openxmlformats.org/officeDocument/2006/relationships" r:id="R325d6aed3e0b4ce8"/>
  </p:notesMasterIdLst>
  <p:sldIdLst>
    <p:sldId xmlns:r="http://schemas.openxmlformats.org/officeDocument/2006/relationships" id="256" r:id="Reb9cb8c952e04b89"/>
    <p:sldId xmlns:r="http://schemas.openxmlformats.org/officeDocument/2006/relationships" id="257" r:id="Rc9f8f97f01454912"/>
    <p:sldId xmlns:r="http://schemas.openxmlformats.org/officeDocument/2006/relationships" id="258" r:id="Rcbd7224b90474eaf"/>
    <p:sldId xmlns:r="http://schemas.openxmlformats.org/officeDocument/2006/relationships" id="259" r:id="R76cbf3d3765c4d02"/>
    <p:sldId xmlns:r="http://schemas.openxmlformats.org/officeDocument/2006/relationships" id="260" r:id="R75cd02380c4f4351"/>
    <p:sldId xmlns:r="http://schemas.openxmlformats.org/officeDocument/2006/relationships" id="261" r:id="Ra38794db7a7f4ef5"/>
    <p:sldId xmlns:r="http://schemas.openxmlformats.org/officeDocument/2006/relationships" id="262" r:id="R5fc84cbc6cbc4732"/>
    <p:sldId xmlns:r="http://schemas.openxmlformats.org/officeDocument/2006/relationships" id="263" r:id="R0c4ac72d9c124d14"/>
    <p:sldId xmlns:r="http://schemas.openxmlformats.org/officeDocument/2006/relationships" id="264" r:id="R9166be3b740a492f"/>
    <p:sldId xmlns:r="http://schemas.openxmlformats.org/officeDocument/2006/relationships" id="265" r:id="R51431e79de764e14"/>
    <p:sldId xmlns:r="http://schemas.openxmlformats.org/officeDocument/2006/relationships" id="266" r:id="Rc6349a748bbc4e0f"/>
    <p:sldId xmlns:r="http://schemas.openxmlformats.org/officeDocument/2006/relationships" id="267" r:id="R7126bdad00f842e9"/>
    <p:sldId xmlns:r="http://schemas.openxmlformats.org/officeDocument/2006/relationships" id="268" r:id="R534aa012f4dc402e"/>
    <p:sldId xmlns:r="http://schemas.openxmlformats.org/officeDocument/2006/relationships" id="269" r:id="Ra4c446f447af49e6"/>
    <p:sldId xmlns:r="http://schemas.openxmlformats.org/officeDocument/2006/relationships" id="270" r:id="R6259c8fa182e4d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05313d0aed480a" /><Relationship Type="http://schemas.openxmlformats.org/officeDocument/2006/relationships/slideMaster" Target="/ppt/slideMasters/slideMaster1.xml" Id="Rbbde4abb93554a68" /><Relationship Type="http://schemas.openxmlformats.org/officeDocument/2006/relationships/notesMaster" Target="/ppt/notesMasters/notesMaster1.xml" Id="R325d6aed3e0b4ce8" /><Relationship Type="http://schemas.openxmlformats.org/officeDocument/2006/relationships/presProps" Target="/ppt/presProps.xml" Id="R5767f2c353a64523" /><Relationship Type="http://schemas.openxmlformats.org/officeDocument/2006/relationships/tableStyles" Target="/ppt/tableStyles.xml" Id="Rd6f2693372e94392" /><Relationship Type="http://schemas.openxmlformats.org/officeDocument/2006/relationships/slide" Target="/ppt/slides/slide1.xml" Id="Reb9cb8c952e04b89" /><Relationship Type="http://schemas.openxmlformats.org/officeDocument/2006/relationships/slide" Target="/ppt/slides/slide2.xml" Id="Rc9f8f97f01454912" /><Relationship Type="http://schemas.openxmlformats.org/officeDocument/2006/relationships/slide" Target="/ppt/slides/slide3.xml" Id="Rcbd7224b90474eaf" /><Relationship Type="http://schemas.openxmlformats.org/officeDocument/2006/relationships/slide" Target="/ppt/slides/slide4.xml" Id="R76cbf3d3765c4d02" /><Relationship Type="http://schemas.openxmlformats.org/officeDocument/2006/relationships/slide" Target="/ppt/slides/slide5.xml" Id="R75cd02380c4f4351" /><Relationship Type="http://schemas.openxmlformats.org/officeDocument/2006/relationships/slide" Target="/ppt/slides/slide6.xml" Id="Ra38794db7a7f4ef5" /><Relationship Type="http://schemas.openxmlformats.org/officeDocument/2006/relationships/slide" Target="/ppt/slides/slide7.xml" Id="R5fc84cbc6cbc4732" /><Relationship Type="http://schemas.openxmlformats.org/officeDocument/2006/relationships/slide" Target="/ppt/slides/slide8.xml" Id="R0c4ac72d9c124d14" /><Relationship Type="http://schemas.openxmlformats.org/officeDocument/2006/relationships/slide" Target="/ppt/slides/slide9.xml" Id="R9166be3b740a492f" /><Relationship Type="http://schemas.openxmlformats.org/officeDocument/2006/relationships/slide" Target="/ppt/slides/slide10.xml" Id="R51431e79de764e14" /><Relationship Type="http://schemas.openxmlformats.org/officeDocument/2006/relationships/slide" Target="/ppt/slides/slide11.xml" Id="Rc6349a748bbc4e0f" /><Relationship Type="http://schemas.openxmlformats.org/officeDocument/2006/relationships/slide" Target="/ppt/slides/slide12.xml" Id="R7126bdad00f842e9" /><Relationship Type="http://schemas.openxmlformats.org/officeDocument/2006/relationships/slide" Target="/ppt/slides/slide13.xml" Id="R534aa012f4dc402e" /><Relationship Type="http://schemas.openxmlformats.org/officeDocument/2006/relationships/slide" Target="/ppt/slides/slide14.xml" Id="Ra4c446f447af49e6" /><Relationship Type="http://schemas.openxmlformats.org/officeDocument/2006/relationships/slide" Target="/ppt/slides/slide15.xml" Id="R6259c8fa182e4d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186375f2c54f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1ef513d6b1424c" /><Relationship Type="http://schemas.openxmlformats.org/officeDocument/2006/relationships/notesMaster" Target="/ppt/notesMasters/notesMaster1.xml" Id="Rd23ff464c50443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5f76e122b84323" /><Relationship Type="http://schemas.openxmlformats.org/officeDocument/2006/relationships/notesMaster" Target="/ppt/notesMasters/notesMaster1.xml" Id="R2df1d9c9bb0c4c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0d5045eadb4061" /><Relationship Type="http://schemas.openxmlformats.org/officeDocument/2006/relationships/notesMaster" Target="/ppt/notesMasters/notesMaster1.xml" Id="R4374abe96a6340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6a628022464263" /><Relationship Type="http://schemas.openxmlformats.org/officeDocument/2006/relationships/notesMaster" Target="/ppt/notesMasters/notesMaster1.xml" Id="Ra9c0bcd1051444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7edd6cf09f4179" /><Relationship Type="http://schemas.openxmlformats.org/officeDocument/2006/relationships/notesMaster" Target="/ppt/notesMasters/notesMaster1.xml" Id="R46a9666bc3624a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65d63bfa2f4f0c" /><Relationship Type="http://schemas.openxmlformats.org/officeDocument/2006/relationships/notesMaster" Target="/ppt/notesMasters/notesMaster1.xml" Id="R39784a8f170343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48e14cfd0f4a37" /><Relationship Type="http://schemas.openxmlformats.org/officeDocument/2006/relationships/notesMaster" Target="/ppt/notesMasters/notesMaster1.xml" Id="R524c837191ca4f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9a690401564794" /><Relationship Type="http://schemas.openxmlformats.org/officeDocument/2006/relationships/notesMaster" Target="/ppt/notesMasters/notesMaster1.xml" Id="R70bc97d344f44d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8a3f7f43344b38" /><Relationship Type="http://schemas.openxmlformats.org/officeDocument/2006/relationships/notesMaster" Target="/ppt/notesMasters/notesMaster1.xml" Id="R28b96a8fdb744e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64cf40a5564af1" /><Relationship Type="http://schemas.openxmlformats.org/officeDocument/2006/relationships/notesMaster" Target="/ppt/notesMasters/notesMaster1.xml" Id="R825d006e875f41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268ccb494d4d9b" /><Relationship Type="http://schemas.openxmlformats.org/officeDocument/2006/relationships/notesMaster" Target="/ppt/notesMasters/notesMaster1.xml" Id="R00ac1380657641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290c1d46d0498a" /><Relationship Type="http://schemas.openxmlformats.org/officeDocument/2006/relationships/notesMaster" Target="/ppt/notesMasters/notesMaster1.xml" Id="Re7ba4c63563a43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944952cf064077" /><Relationship Type="http://schemas.openxmlformats.org/officeDocument/2006/relationships/notesMaster" Target="/ppt/notesMasters/notesMaster1.xml" Id="R0d84c44fcea04d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ec812cda3041ed" /><Relationship Type="http://schemas.openxmlformats.org/officeDocument/2006/relationships/notesMaster" Target="/ppt/notesMasters/notesMaster1.xml" Id="Rc443d2b1b46040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5c645e3534476d" /><Relationship Type="http://schemas.openxmlformats.org/officeDocument/2006/relationships/notesMaster" Target="/ppt/notesMasters/notesMaster1.xml" Id="R4205b2db9de94a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Educational portfolio scenario. All performance values are synthetic. No real company, customer, or municipal deployment is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presentation reframes the source university deck into a public and evidence-led portfolio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Accessed 16 October 2026. The opportunity statement is an inference from the cited policy and procurement guidance.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https://transport.ec.europa.eu/transport-themes/urban-transport/sustainable-urban-mobility-planning-and-monitoring_en</a:t>
            </a:r>
          </a:p>
          <a:p xmlns:a="http://schemas.openxmlformats.org/drawingml/2006/main">
            <a:r>
              <a:t>- https://transport.ec.europa.eu/transport-themes/smart-mobility/road_en</a:t>
            </a:r>
          </a:p>
          <a:p xmlns:a="http://schemas.openxmlformats.org/drawingml/2006/main">
            <a:r>
              <a:t>- https://commission.europa.eu/funding-and-tenders/tools-public-buyers/innovation-procurement_en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step is an evidence status. Synthetic or simulated values must always remain visibly labelled.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buying-committee model is a project design, informed by public procurement guidance.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https://commission.europa.eu/funding-and-tenders/tools-public-buyers/innovation-procurement_en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funnel is account and buying-committee oriented. A click or contact reply is not an opportunity.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separation is a proposed privacy and security boundary, not an implemented production architecture.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https://eur-lex.europa.eu/eli/reg/2016/679/oj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Channel roles are illustrative. Actual media choices require audience research, legal review and budget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KPI definitions and campaign taxonomy are documented in the repository.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https://support.google.com/analytics/answer/10917952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Scores are generated from the synthetic campaign dataset. They are not market benchmarks or observed customer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repository output file is authoritative. The scoring model applies minimum and maximum channel shares and requires human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controls are a project checklist. Actual classification and compliance require qualified review of the real system and jurisdiction.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https://eur-lex.europa.eu/eli/reg/2016/679/oj</a:t>
            </a:r>
          </a:p>
          <a:p xmlns:a="http://schemas.openxmlformats.org/drawingml/2006/main">
            <a:r>
              <a:t>- https://www.edpb.europa.eu/sites/default/files/files/file1/edpb_guidelines_202005_consent_en.pdf</a:t>
            </a:r>
          </a:p>
          <a:p xmlns:a="http://schemas.openxmlformats.org/drawingml/2006/main">
            <a:r>
              <a:t>- https://eur-lex.europa.eu/eli/reg/2024/1689/oj</a:t>
            </a:r>
          </a:p>
          <a:p xmlns:a="http://schemas.openxmlformats.org/drawingml/2006/main">
            <a:r>
              <a:t>- https://doi.org/10.6028/NIST.AI.100-1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complete eight-item risk register with owners is in the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is illustrative. Public procurement and pilot approvals can materially change the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16 October 2026.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https://transport.ec.europa.eu/transport-themes/urban-transport/sustainable-urban-mobility-planning-and-monitoring_en</a:t>
            </a:r>
          </a:p>
          <a:p xmlns:a="http://schemas.openxmlformats.org/drawingml/2006/main">
            <a:r>
              <a:t>- https://transport.ec.europa.eu/transport-themes/smart-mobility/road_en</a:t>
            </a:r>
          </a:p>
          <a:p xmlns:a="http://schemas.openxmlformats.org/drawingml/2006/main">
            <a:r>
              <a:t>- https://commission.europa.eu/funding-and-tenders/tools-public-buyers/innovation-procurement_en</a:t>
            </a:r>
          </a:p>
          <a:p xmlns:a="http://schemas.openxmlformats.org/drawingml/2006/main">
            <a:r>
              <a:t>- https://support.google.com/analytics/answer/10917952</a:t>
            </a:r>
          </a:p>
          <a:p xmlns:a="http://schemas.openxmlformats.org/drawingml/2006/main">
            <a:r>
              <a:t>- https://eur-lex.europa.eu/eli/reg/2016/679/oj</a:t>
            </a:r>
          </a:p>
          <a:p xmlns:a="http://schemas.openxmlformats.org/drawingml/2006/main">
            <a:r>
              <a:t>- https://www.edpb.europa.eu/sites/default/files/files/file1/edpb_guidelines_202005_consent_en.pdf</a:t>
            </a:r>
          </a:p>
          <a:p xmlns:a="http://schemas.openxmlformats.org/drawingml/2006/main">
            <a:r>
              <a:t>- https://eur-lex.europa.eu/eli/reg/2024/1689/oj</a:t>
            </a:r>
          </a:p>
          <a:p xmlns:a="http://schemas.openxmlformats.org/drawingml/2006/main">
            <a:r>
              <a:t>- https://doi.org/10.6028/NIST.AI.100-1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073c7aa0246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43e429ea843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30a706cdb4a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1bf1f845e4f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dea7ad3db4c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aa8baa85741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14BDC7-ACFE-4999-A8B6-DF66C026EF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D84E06-3165-40E1-901A-AC52838D3C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6F3EF9-E7CF-4679-B299-C4C59E5A76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4EFB99-5DC3-417B-89D2-C3C5D277A8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499C22-B515-48B0-8C5D-906A3F784D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FC0CC4-A968-44D2-ACFF-F7B1EBB91F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9625F2-FC43-4A57-B2C7-127A6F184C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BE1C41-E291-4E87-8C5E-36A690C0D5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13071F-9522-41BD-BB1F-D35FF0BFE8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BCFDDD-F83B-4F0D-BB6A-ECE0E4E5B9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dd5e08a69b491a" /><Relationship Type="http://schemas.openxmlformats.org/officeDocument/2006/relationships/slideLayout" Target="/ppt/slideLayouts/slideLayout1.xml" Id="Ra6082c465b3d4b36" /><Relationship Type="http://schemas.openxmlformats.org/officeDocument/2006/relationships/slideLayout" Target="/ppt/slideLayouts/slideLayout2.xml" Id="R827e2934b16c4dce" /><Relationship Type="http://schemas.openxmlformats.org/officeDocument/2006/relationships/slideLayout" Target="/ppt/slideLayouts/slideLayout3.xml" Id="R3c6ccc463bc34f1e" /><Relationship Type="http://schemas.openxmlformats.org/officeDocument/2006/relationships/slideLayout" Target="/ppt/slideLayouts/slideLayout4.xml" Id="R3d56e74b1d56490f" /><Relationship Type="http://schemas.openxmlformats.org/officeDocument/2006/relationships/slideLayout" Target="/ppt/slideLayouts/slideLayout5.xml" Id="Rfbadd914d9714909" /><Relationship Type="http://schemas.openxmlformats.org/officeDocument/2006/relationships/slideLayout" Target="/ppt/slideLayouts/slideLayout6.xml" Id="Rb64efc7062094b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82c465b3d4b36"/>
    <p:sldLayoutId xmlns:r="http://schemas.openxmlformats.org/officeDocument/2006/relationships" id="2147483650" r:id="R827e2934b16c4dce"/>
    <p:sldLayoutId xmlns:r="http://schemas.openxmlformats.org/officeDocument/2006/relationships" id="2147483651" r:id="R3c6ccc463bc34f1e"/>
    <p:sldLayoutId xmlns:r="http://schemas.openxmlformats.org/officeDocument/2006/relationships" id="2147483652" r:id="R3d56e74b1d56490f"/>
    <p:sldLayoutId xmlns:r="http://schemas.openxmlformats.org/officeDocument/2006/relationships" id="2147483653" r:id="Rfbadd914d9714909"/>
    <p:sldLayoutId xmlns:r="http://schemas.openxmlformats.org/officeDocument/2006/relationships" id="2147483654" r:id="Rb64efc7062094b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bc4c6591474b81" /><Relationship Type="http://schemas.openxmlformats.org/officeDocument/2006/relationships/notesSlide" Target="/ppt/notesSlides/notesSlide1.xml" Id="R626ca3f766fe4d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e8f6966f784ba6" /><Relationship Type="http://schemas.openxmlformats.org/officeDocument/2006/relationships/notesSlide" Target="/ppt/notesSlides/notesSlide2.xml" Id="R68a074fa9f744b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12fbfec7e458e" /><Relationship Type="http://schemas.openxmlformats.org/officeDocument/2006/relationships/notesSlide" Target="/ppt/notesSlides/notesSlide3.xml" Id="R848ef04525414c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b54f39f5543b2" /><Relationship Type="http://schemas.openxmlformats.org/officeDocument/2006/relationships/notesSlide" Target="/ppt/notesSlides/notesSlide4.xml" Id="R5409a3c42fce4d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4372e6de1344eb" /><Relationship Type="http://schemas.openxmlformats.org/officeDocument/2006/relationships/notesSlide" Target="/ppt/notesSlides/notesSlide5.xml" Id="R267ddcee8e1741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1cd83788d4c58" /><Relationship Type="http://schemas.openxmlformats.org/officeDocument/2006/relationships/notesSlide" Target="/ppt/notesSlides/notesSlide6.xml" Id="Ra11ad49043b94e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309081c5fd4a42" /><Relationship Type="http://schemas.openxmlformats.org/officeDocument/2006/relationships/notesSlide" Target="/ppt/notesSlides/notesSlide7.xml" Id="Rbf7c5c5b88504e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4eda1629824c65" /><Relationship Type="http://schemas.openxmlformats.org/officeDocument/2006/relationships/notesSlide" Target="/ppt/notesSlides/notesSlide8.xml" Id="R1a4794d8b21b4a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aa487bc2644216" /><Relationship Type="http://schemas.openxmlformats.org/officeDocument/2006/relationships/notesSlide" Target="/ppt/notesSlides/notesSlide9.xml" Id="R4b74212511d94f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4bbefc3f414391" /><Relationship Type="http://schemas.openxmlformats.org/officeDocument/2006/relationships/chart" Target="/ppt/slides/charts/chart1.xml" Id="R4ab32f00b0974b3c" /><Relationship Type="http://schemas.openxmlformats.org/officeDocument/2006/relationships/notesSlide" Target="/ppt/notesSlides/notesSlide10.xml" Id="Rfb799745e68549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acfd08fdb84b5c" /><Relationship Type="http://schemas.openxmlformats.org/officeDocument/2006/relationships/notesSlide" Target="/ppt/notesSlides/notesSlide11.xml" Id="R1d089ca111a44a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ef9c1b7eab48d5" /><Relationship Type="http://schemas.openxmlformats.org/officeDocument/2006/relationships/notesSlide" Target="/ppt/notesSlides/notesSlide12.xml" Id="Rfadbbf3d67644b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d6e46cb04e4b4a" /><Relationship Type="http://schemas.openxmlformats.org/officeDocument/2006/relationships/notesSlide" Target="/ppt/notesSlides/notesSlide13.xml" Id="Rc8fe9e30c70f49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81f7453d645f4" /><Relationship Type="http://schemas.openxmlformats.org/officeDocument/2006/relationships/notesSlide" Target="/ppt/notesSlides/notesSlide14.xml" Id="Rcd7e44f777b447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761b39eb81423b" /><Relationship Type="http://schemas.openxmlformats.org/officeDocument/2006/relationships/notesSlide" Target="/ppt/notesSlides/notesSlide15.xml" Id="R5cdac564cde54a9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Channel score</c:v>
          </c:tx>
          <c:spPr>
            <a:solidFill xmlns:a="http://schemas.openxmlformats.org/drawingml/2006/main">
              <a:srgbClr val="148A8A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Email</c:v>
                </c:pt>
                <c:pt idx="1">
                  <c:v>Webinars</c:v>
                </c:pt>
                <c:pt idx="2">
                  <c:v>Search</c:v>
                </c:pt>
                <c:pt idx="3">
                  <c:v>LinkedIn</c:v>
                </c:pt>
                <c:pt idx="4">
                  <c:v>Innovation platforms</c:v>
                </c:pt>
                <c:pt idx="5">
                  <c:v>Trade media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91.04</c:v>
                </c:pt>
                <c:pt idx="1">
                  <c:v>82.28</c:v>
                </c:pt>
                <c:pt idx="2">
                  <c:v>70.07</c:v>
                </c:pt>
                <c:pt idx="3">
                  <c:v>67.22</c:v>
                </c:pt>
                <c:pt idx="4">
                  <c:v>66.9</c:v>
                </c:pt>
                <c:pt idx="5">
                  <c:v>30.52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5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12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AF1F4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C79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82C97-0C42-49A9-B066-9356D67F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39C2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9C2B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9C2B3"/>
                </a:solidFill>
                <a:latin typeface="Arial"/>
                <a:ea typeface="Arial"/>
                <a:cs typeface="Arial"/>
              </a:rPr>
              <a:t>PORTFOLIO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5E3FC-9F00-4DE1-BD0E-7F73A3A0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771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Digital Marketing for an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Traffic Management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37759-4895-4179-8ED1-77FC1F82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C7D6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C7D6E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7D6E0"/>
                </a:solidFill>
                <a:latin typeface="Arial"/>
                <a:ea typeface="Arial"/>
                <a:cs typeface="Arial"/>
              </a:rPr>
              <a:t>B2G acquisition, measurement, privacy and AI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D943C-6FB5-4C59-ADAE-5A46B208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9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3224B-957E-4FEF-AB2A-45694A5C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SPIROS GROUZTIDIS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3BC13-4DA1-45E7-8CB3-180ABD08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C7D6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C7D6E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7D6E0"/>
                </a:solidFill>
                <a:latin typeface="Arial"/>
                <a:ea typeface="Arial"/>
                <a:cs typeface="Arial"/>
              </a:rPr>
              <a:t>Public English edition,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6ED49-0460-4088-AB97-0061D1A9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85900"/>
            <a:ext cx="24003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3348"/>
          </a:solidFill>
          <a:ln xmlns:a="http://schemas.openxmlformats.org/drawingml/2006/main" w="9525">
            <a:solidFill>
              <a:srgbClr val="39C2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A2DA6-F784-40A4-95CA-4770CD2B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57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9C2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9C2B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C2B3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BBDEC-5F32-483F-97FE-CCC6E0D3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Campaign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A975F-ABAE-4CA1-9B2E-D0D7BD18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73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57F22-A674-4441-8C0B-22A04E14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24003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3348"/>
          </a:solidFill>
          <a:ln xmlns:a="http://schemas.openxmlformats.org/drawingml/2006/main" w="9525">
            <a:solidFill>
              <a:srgbClr val="D69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11E79-1B61-4344-8080-87A912BD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24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D69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69B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69B35"/>
                </a:solidFill>
                <a:latin typeface="Arial"/>
                <a:ea typeface="Arial"/>
                <a:cs typeface="Arial"/>
              </a:rPr>
              <a:t>GOVERN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6BE5E-13F5-44A3-B3A5-2826F9C8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67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and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68109-48D8-47D6-AC6A-193832A1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9433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738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00F6C-9179-4B4C-A8DB-0949D78C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19600"/>
            <a:ext cx="24003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3348"/>
          </a:solidFill>
          <a:ln xmlns:a="http://schemas.openxmlformats.org/drawingml/2006/main" w="9525">
            <a:solidFill>
              <a:srgbClr val="69A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FFAD2-105A-4837-A789-3C631B41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91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9A8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A8FF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0EAB5-BA38-49C4-A68D-1447E7C3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33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</p:spTree>
    <p:extLst>
      <p:ext uri="{BB962C8B-B14F-4D97-AF65-F5344CB8AC3E}">
        <p14:creationId xmlns:p14="http://schemas.microsoft.com/office/powerpoint/2010/main" val="419606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BF188-0C62-4062-BDCB-1E02C8C3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0E162-6995-4249-A682-FFC079B5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 marketing decision system, not a product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D2441-33CF-49B3-9F96-5D4B4F44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2C5AC-AEA6-458B-8CFE-2F2D6BC4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64222-2576-4BE0-B2B6-E2893FAE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MARKETING FOR AN AI TRAFFIC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ADB23-D46D-4A57-8B45-9CFA929D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Synthetic portfolio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28708-157E-4D0D-8B1D-749FA69D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333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A33AC-C75B-466C-885B-BB1FA675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6675" cy="1790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48A8A"/>
          </a:solidFill>
          <a:ln xmlns:a="http://schemas.openxmlformats.org/drawingml/2006/main" w="9525">
            <a:solidFill>
              <a:srgbClr val="14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44BFD-01B4-4F8E-87B7-69F80B28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What it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15117-FB74-4537-8C4E-A889CE24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914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Which channels and evidence assets support a municipal pilot conversation, and how should results be measured?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31A2F-25A2-4A12-9944-C09700A4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04950"/>
            <a:ext cx="3333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765D4-FDCA-4A03-A96E-134F0061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04950"/>
            <a:ext cx="66675" cy="1790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E7CB7"/>
          </a:solidFill>
          <a:ln xmlns:a="http://schemas.openxmlformats.org/drawingml/2006/main" w="9525">
            <a:solidFill>
              <a:srgbClr val="4E7C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E5F0E-C4EB-488F-9784-17419E24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764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What it contains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CEBC2-D5EE-4D3D-B539-F1EFA103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38350"/>
            <a:ext cx="2914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A B2G funnel, synthetic campaign data, KPI calculations, budget recommendations, and governance controls.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0E5EA-D68D-472C-BF21-41CC487B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04950"/>
            <a:ext cx="3333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2172B-C65E-4BF5-AD57-738EEB81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04950"/>
            <a:ext cx="66675" cy="1790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66B38"/>
          </a:solidFill>
          <a:ln xmlns:a="http://schemas.openxmlformats.org/drawingml/2006/main" w="9525">
            <a:solidFill>
              <a:srgbClr val="D66B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63235-6B08-4E0F-8B98-F9BB1285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764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What it excludes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9F2C4-3EDC-40DB-A03F-FA707DBF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914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Real customers, production traffic data, legal conclusions, causal lift, and verified traffic-system performance.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297B6-9B08-4833-BC22-A1CE7BAC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179070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03370-E114-4DF4-96D7-39CFB132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Decision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366FA-85BB-4B8D-9897-6F6023EF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48"/>
          </a:bodyPr>
          <a:lstStyle xmlns:a="http://schemas.openxmlformats.org/drawingml/2006/main">
            <a:defPPr algn="ctr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How should a supplier market a controlled AI traffic pilot to European public buyers while preserving evidence quality, privacy, procurement readiness and accountable human review?</a:t>
            </a:r>
          </a:p>
        </p:txBody>
      </p:sp>
    </p:spTree>
    <p:extLst>
      <p:ext uri="{BB962C8B-B14F-4D97-AF65-F5344CB8AC3E}">
        <p14:creationId xmlns:p14="http://schemas.microsoft.com/office/powerpoint/2010/main" val="1369795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725CB-D3E2-47E5-AA49-B9AC2AFB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A7C4D-7ACF-465F-8BA9-9DEFD84B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Urban mobility creates an evidence-led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9C298-1F31-4424-85DB-7D6CA1BD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CEA74-A864-4711-BE3B-6EDF49D0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84AFA-834B-484C-BA36-5A77E2B7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MARKETING FOR AN AI TRAFFIC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CF11E-A8DE-4D0A-A8F1-079E1945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Synthetic portfolio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D4956-84F8-42B3-9231-90FC8121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Policy direction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F07FD-5FAB-4486-89B5-ED7E54A8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European policy supports integrated urban mobility planning, measurable indicators, sustainable transport and digital traffic-management solutions.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0BCB9-6C61-42F6-B134-156E34D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BEE96-9784-4583-983F-CC53366C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C61C5-68EB-463B-9337-350D0618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049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Local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76E8D-48DC-4EBA-B879-DE942651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573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Define the congestion, safety or reliability problem before selecting technology.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ACE06-9E4A-48C5-887A-2E2AE11F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1931A-9217-40A7-AAEE-D7B24CA0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Controlled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25F9B-DAFF-4EE9-840C-C33A74C7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669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Use bounded scope, acceptance measures, monitoring, fallback and human override.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405C2-5DCB-43E2-8626-D84F2607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04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4499A-2542-498F-B224-4E4FA5B7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Procurement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41258-6E51-40C8-BD68-C3E62F72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766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Document value, uncertainty, ownership, exit conditions and scale criteria.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9D8D0-517B-45FF-9B56-FFFA0B9E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101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D29E3-0C2B-4E9D-A341-7E700899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339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Governed claims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DDAED-856F-4980-9CC8-7C102AC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862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Market only the capabilities and outcomes supported by owned evidence.</a:t>
            </a:r>
          </a:p>
        </p:txBody>
      </p:sp>
    </p:spTree>
    <p:extLst>
      <p:ext uri="{BB962C8B-B14F-4D97-AF65-F5344CB8AC3E}">
        <p14:creationId xmlns:p14="http://schemas.microsoft.com/office/powerpoint/2010/main" val="1973822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EB3D6-16C0-4420-8B25-14F911B8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BD43A-852C-4DA9-9526-5A156455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offer is a controlled pilot with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F641B-2287-4B4A-A996-C601612E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5C293-0C5F-4BB6-973C-D5A78963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0FB32-C76C-4364-B732-AB37752D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MARKETING FOR AN AI TRAFFIC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D6607-16D7-4B2D-B696-90CE4606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Synthetic portfolio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AE4F4-75DF-4501-A0DC-22AEBC5D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866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A8A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Problem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Approved local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2362F-4AEE-4C95-8165-15444099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38350"/>
            <a:ext cx="1866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E7CB7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Capability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Interfaces and controls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9B391-9735-4D28-ABF7-2FF254F6276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38400" y="25908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C79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69A50-2FD7-4DD3-94B5-28924AD6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38350"/>
            <a:ext cx="1866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9B3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Pilot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Observed bounded result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5B621-710D-49E7-8858-2AB1E897DD7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705350" y="25908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C79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02B27-E7A0-4B5A-93FA-05A75B81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38350"/>
            <a:ext cx="1866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6B3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Operations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Monitoring and fallback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D5674-B163-4FB2-8FD2-060BEE4684E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972300" y="25908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C79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8DA83-47C7-4748-A842-B11E49F7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38350"/>
            <a:ext cx="1866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77A5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Scale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Cost and transfer conditions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93B3B-62ED-4E86-87D0-CC9C82E427DF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239250" y="25908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C79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B722E-B755-41CF-B984-2C0A3F33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102108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5E95C-8040-4540-B26C-A6B9CDD8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576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Recommended public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11719-1CE0-4E53-9090-E13A28DF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967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826"/>
          </a:bodyPr>
          <a:lstStyle xmlns:a="http://schemas.openxmlformats.org/drawingml/2006/main">
            <a:defPPr algn="ctr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Test whether adaptive traffic management can improve agreed local outcomes inside a bounded pilot, with explicit baselines, human override and transparent evaluation.</a:t>
            </a:r>
          </a:p>
        </p:txBody>
      </p:sp>
    </p:spTree>
    <p:extLst>
      <p:ext uri="{BB962C8B-B14F-4D97-AF65-F5344CB8AC3E}">
        <p14:creationId xmlns:p14="http://schemas.microsoft.com/office/powerpoint/2010/main" val="1138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5FB7F-66A3-4344-97C9-EC3678FA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4F574-FA97-47D0-8B7A-66503905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 municipality buys through a committee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9755B-EFD1-41E8-840A-7FE476C1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EE34E-E264-4FE1-920D-92F4CA67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8528A-82C9-4389-B2FC-8A10C91C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MARKETING FOR AN AI TRAFFIC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7975A-E078-41DF-9787-58C2AC6C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Synthetic portfolio case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48848-C3F8-49C8-9E34-155CD9429DBE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810000"/>
                <a:gridCol w="4781550"/>
              </a:tblGrid>
              <a:tr h="4572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concern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needed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Executive sponsor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Public value and accountability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Baseline and citizen outcome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Mobility owner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Safe and reliable operation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Pilot boundary and fallback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IT and security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Integration and resilience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Architecture, logs and recovery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Procurement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Fair competition and value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Scope, criteria and exit terms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DPO and legal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Lawful and proportionate use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Data map and assessment triggers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Finance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Affordability and uncertainty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Cost range and sensitivity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4C798-6050-482D-A5E8-AD7C2696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8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A qualified opportunity needs an operational owner, accountable sponsor and a plausible procurement path.</a:t>
            </a:r>
          </a:p>
        </p:txBody>
      </p:sp>
    </p:spTree>
    <p:extLst>
      <p:ext uri="{BB962C8B-B14F-4D97-AF65-F5344CB8AC3E}">
        <p14:creationId xmlns:p14="http://schemas.microsoft.com/office/powerpoint/2010/main" val="380408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E4FB24-AECC-49FE-A42A-8BC00227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D9CCB-CD49-4D2E-B7B5-92D981B4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funnel follows the public buying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9E713-79CE-40C5-821C-2D683ADB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3DF50-8A7B-4385-9235-D169BF8F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D0629-625B-4753-A80E-52DDBD21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MARKETING FOR AN AI TRAFFIC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3EE43-FC02-46BC-BCBD-5FA25AD3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Synthetic portfolio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C54B9-1485-4B26-AD22-0CBFDC41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0096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1F4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9C495-BBFB-4D8A-827E-F3488EB4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43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C45D5-E7A3-4B53-B801-44CDC95F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43050"/>
            <a:ext cx="779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Recognise a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D4D46-9909-450A-9DBF-F69280C1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52650"/>
            <a:ext cx="87630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BF0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D7679-D63D-4794-9B8C-7F3397D7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66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D264C-2E40-4A0A-B42C-624DE1BE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645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Compare interventions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FE8A6-61AE-4811-813C-816EC75B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76550"/>
            <a:ext cx="7429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BE4E3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31DDA-4B02-472E-897A-6A830EB0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90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Qualify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8169D-0855-43C1-A6E0-5A6D17D5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512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Confirm fit and owner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3745C-5FBD-4678-A5A8-71A693C0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00450"/>
            <a:ext cx="60960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8D9D7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E3A06-0C26-4738-9644-BF2E7907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14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692D5-78A5-4438-9345-198FB636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Build the pilot case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543BA-7CF9-4C47-B41D-4339FA15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24350"/>
            <a:ext cx="4762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2C7C3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400D7-3171-48E3-B6D1-C2A7C7CA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38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Procure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9C909-1B85-4AC0-99FC-605FD6C3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386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Select a route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57438-5C4E-4BC8-AFCE-E2B0DD9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34290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8A8A"/>
          </a:solidFill>
          <a:ln xmlns:a="http://schemas.openxmlformats.org/drawingml/2006/main" w="9525">
            <a:solidFill>
              <a:srgbClr val="148A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BED96-A070-4D71-8CCE-666873F3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62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34D072-45CF-4810-BC70-ECE88B63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625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8125"/>
          </a:bodyPr>
          <a:lstStyle xmlns:a="http://schemas.openxmlformats.org/drawingml/2006/main">
            <a:defPPr algn="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 to evaluation</a:t>
            </a:r>
          </a:p>
        </p:txBody>
      </p:sp>
    </p:spTree>
    <p:extLst>
      <p:ext uri="{BB962C8B-B14F-4D97-AF65-F5344CB8AC3E}">
        <p14:creationId xmlns:p14="http://schemas.microsoft.com/office/powerpoint/2010/main" val="189239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4FF51B-E4D9-4E5E-8E67-69BFEA5F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97FD2-0F39-472A-9C57-CEE26A77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Measurement stays separate from traffic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7B9AC-47D7-41E2-842B-029E1CF6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E55C8-04E4-4EED-A6E1-6AF53E60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4AEE3-6269-4029-8317-49244375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MARKETING FOR AN AI TRAFFIC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5D33D-C188-4DED-8A3D-BA5810F3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Synthetic portfolio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E2138-0353-4D2B-88C9-66BC2F2D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619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1F4"/>
          </a:solidFill>
          <a:ln xmlns:a="http://schemas.openxmlformats.org/drawingml/2006/main" w="9525">
            <a:solidFill>
              <a:srgbClr val="148A8A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Owned and paid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channels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84CF5-022B-444B-A7E1-1672AC36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90750"/>
            <a:ext cx="1619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A8A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Consent-aware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landing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6A5CE-429F-402E-B1A1-42C4547E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1619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E7CB7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Campaign event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collector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85AA2-FA31-4A92-8F7D-F454009C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90750"/>
            <a:ext cx="1619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1F4"/>
          </a:solidFill>
          <a:ln xmlns:a="http://schemas.openxmlformats.org/drawingml/2006/main" w="9525">
            <a:solidFill>
              <a:srgbClr val="4E7CB7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Aggregate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marketing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1711B-7F01-4EFA-A93C-DC0E97D2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1619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9B3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KPI and scoring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engine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30764-CC0B-440D-9445-8F00AE1D421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14550" y="26098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C79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7CD9A-7A09-473B-8A7B-5F571747131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29100" y="26098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C79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C03B1-6565-4FC2-9E87-D3161B4D7C6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343650" y="26098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C79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7A2266-3EF4-4041-B1AC-A8CA3D921DC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458200" y="26098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C79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57ADD-D484-4E80-BD60-B215E0F4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857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review board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EB399-DACA-4C6B-A81A-A9FB50992EF8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8667750" y="3028950"/>
            <a:ext cx="1095375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9B35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26E7D-9241-43C5-970A-6058C1E9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CRM stages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9009C-EA62-4D8D-9277-2A75BCF9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957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Approved pilot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A9B3B-7326-4564-8ABE-C335A4D3B18A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724400" y="4438650"/>
            <a:ext cx="251460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C79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C45133-2DB9-4550-94CC-C315D8898308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743700" y="4438650"/>
            <a:ext cx="49530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C79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0D5EBA-CCE8-4D48-9D3E-4DFD9289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4000"/>
            <a:ext cx="102298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69B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327ECC-1449-4CBA-A0F6-72A346C3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05450"/>
            <a:ext cx="965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No raw camera feeds, vehicle identifiers, location histories or resident profiles enter the marketing layer.</a:t>
            </a:r>
          </a:p>
        </p:txBody>
      </p:sp>
    </p:spTree>
    <p:extLst>
      <p:ext uri="{BB962C8B-B14F-4D97-AF65-F5344CB8AC3E}">
        <p14:creationId xmlns:p14="http://schemas.microsoft.com/office/powerpoint/2010/main" val="6909205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5F4E1-4867-4033-8444-E5970C85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CAMPAIGNS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258E7-C3B0-4A32-BDF2-29E06BD6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Each channel has a defined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3C177-E0DC-442E-860E-79AFCA48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2FC0D-ED85-45BC-B74F-611672E7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5B799-E9D0-49D2-B85E-ED30D4F6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MARKETING FOR AN AI TRAFFIC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79523-1A98-4D19-9C54-7E410603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Synthetic portfolio case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DE943-5326-4F8B-9FCB-B3B8B6283173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676650"/>
                <a:gridCol w="4705350"/>
              </a:tblGrid>
              <a:tr h="4572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Channel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audience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asset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LinkedIn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Municipal executives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Outcome briefing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Search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Mobility teams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Pilot readiness page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Email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Named public buyers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Procurement checklist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Webinars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Buying committees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Technical evidence session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Innovation platforms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Funding teams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Mobility demonstration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Trade media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Smart city ecosystem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Sustainable city article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BD8C2-7E21-417B-B828-0712DC42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83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Every campaign targets a documented buyer question and a measurable next step.</a:t>
            </a:r>
          </a:p>
        </p:txBody>
      </p:sp>
    </p:spTree>
    <p:extLst>
      <p:ext uri="{BB962C8B-B14F-4D97-AF65-F5344CB8AC3E}">
        <p14:creationId xmlns:p14="http://schemas.microsoft.com/office/powerpoint/2010/main" val="529006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C3075A-C1FD-40D9-8B0C-30594E65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C663E-0EB6-418A-A99D-410D504D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Metrics connect reach to a pilot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03E62-39A6-4657-88EB-36496EDC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E0BEA-CEF0-403B-9B33-D910AFA9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BAFC8-6963-4EE4-8D55-8B73A2A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MARKETING FOR AN AI TRAFFIC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C3BF3-5E08-4B0B-B666-81C860A2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Synthetic portfolio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B21F1-9326-4A85-843B-FC03C273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95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2C515-E95F-4D80-84A2-5BF59F9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6200" cy="112395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8A8A"/>
          </a:solidFill>
          <a:ln xmlns:a="http://schemas.openxmlformats.org/drawingml/2006/main" w="9525">
            <a:solidFill>
              <a:srgbClr val="14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3360E-8705-4C6E-9903-700A0113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CTR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DF5D1-27A5-4001-973D-EEAB40C9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8115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Clicks / impressions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0C02A-295E-400E-8F5C-18E49B28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Message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167A5-0CCB-454E-90B2-188E4FE2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295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86C8A-00D5-40A9-94A3-BCB8E576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76200" cy="112395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4E7CB7"/>
          </a:solidFill>
          <a:ln xmlns:a="http://schemas.openxmlformats.org/drawingml/2006/main" w="9525">
            <a:solidFill>
              <a:srgbClr val="4E7C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CA530-E792-4E9B-9736-BB155C02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811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E7C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E7CB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CB7"/>
                </a:solidFill>
                <a:latin typeface="Arial"/>
                <a:ea typeface="Arial"/>
                <a:cs typeface="Arial"/>
              </a:rPr>
              <a:t>Engagement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CB04D-F7F3-4219-A258-A93E549E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8115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Engaged sessions / sessions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C35B3-FEBC-4FB8-9F91-54946915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Content relevance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46308-CE44-4DC8-8BD8-B58A0D4A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5295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0E149-9B4C-477E-81B6-5A223158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76200" cy="112395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69B35"/>
          </a:solidFill>
          <a:ln xmlns:a="http://schemas.openxmlformats.org/drawingml/2006/main" w="9525">
            <a:solidFill>
              <a:srgbClr val="D69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9E635-4B90-4035-B184-D478EB66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69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69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69B35"/>
                </a:solidFill>
                <a:latin typeface="Arial"/>
                <a:ea typeface="Arial"/>
                <a:cs typeface="Arial"/>
              </a:rPr>
              <a:t>Lead conversion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6E484-5B87-4972-A4DA-AB3CAF9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3370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Qualified leads / sessions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1B3FAD-6F3C-4BE0-B194-F11B5E6A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Fit and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AAAE68-97BF-41C8-BB03-9E46546B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5295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5A112-FB27-4595-8786-26A34FE8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76200" cy="112395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66B38"/>
          </a:solidFill>
          <a:ln xmlns:a="http://schemas.openxmlformats.org/drawingml/2006/main" w="9525">
            <a:solidFill>
              <a:srgbClr val="D66B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F89BE-BA93-4CDE-B9F9-0210EDCE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Opportunity conversion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4B7B3-EFE7-4824-B26C-6B38729C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3370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Opportunities / qualified leads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D1B23F-25DB-415A-B539-B98D9D56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Committee progress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0182EF-DD7B-4A8F-A327-68AFB2D0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5295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B6E189-1EC6-408D-9E3B-982C6D5A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76200" cy="112395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477A55"/>
          </a:solidFill>
          <a:ln xmlns:a="http://schemas.openxmlformats.org/drawingml/2006/main" w="9525">
            <a:solidFill>
              <a:srgbClr val="477A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889108-0F07-4C9F-8651-2387613D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77A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77A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7A55"/>
                </a:solidFill>
                <a:latin typeface="Arial"/>
                <a:ea typeface="Arial"/>
                <a:cs typeface="Arial"/>
              </a:rPr>
              <a:t>Pilot conversion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23393-B52D-4E0C-9976-9860B83E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8625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Pilot commitments / opportunities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E1A8B7-6F92-464D-9F14-29E19B5B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Commercial progress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89CF4C-A781-4BC9-B28F-88F2726E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33850"/>
            <a:ext cx="5295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22F304-67B1-4B20-BEFE-F3488B8A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33850"/>
            <a:ext cx="76200" cy="112395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CE7F1D-99FF-490C-9942-20D2836C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862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Cost per opportunity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120C78-EE12-4730-A706-FA1B98AA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8625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Spend / opportunities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FEC951-5157-49EC-BA4F-6DC96A7E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24400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Pipeline efficiency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7E7BA7-9D60-4AF7-ADA4-846729A4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UTM labels support campaign reporting. They do not prove consent, identity or causation.</a:t>
            </a:r>
          </a:p>
        </p:txBody>
      </p:sp>
    </p:spTree>
    <p:extLst>
      <p:ext uri="{BB962C8B-B14F-4D97-AF65-F5344CB8AC3E}">
        <p14:creationId xmlns:p14="http://schemas.microsoft.com/office/powerpoint/2010/main" val="13302363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3E573-4818-468D-BA43-15B7E546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74647-E41A-45C1-BBDB-4AEDC556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Synthetic results favour high-intent channels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E71B8-E5F3-4B85-8B8F-B4B8C392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038E5-E0B3-4FF7-ACF6-17AAB26B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9E1B7-9CAA-4A3C-A161-AA478E08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MARKETING FOR AN AI TRAFFIC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F2413-471D-42AB-983F-27ED0B3E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Synthetic portfolio case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B2AD2B5B-4AAD-4650-B2D7-7C238A8CBC98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704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b32f00b0974b3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32371-6865-445F-919A-344155C3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38300"/>
            <a:ext cx="3086100" cy="3714750"/>
          </a:xfrm>
          <a:prstGeom xmlns:a="http://schemas.openxmlformats.org/drawingml/2006/main" prst="roundRect">
            <a:avLst>
              <a:gd name="adj" fmla="val 432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982AF-3201-4510-83B0-6A611914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BB8C5-CC8A-477F-8367-10853E7B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2552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Email and webinars create stronger committee-level progression in the scenario.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Search contributes volume and intent.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Trade media remains an awareness channel with weaker example efficiency.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431A6-17A1-450C-B268-B1ED255D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Synthetic inputs</a:t>
            </a:r>
          </a:p>
        </p:txBody>
      </p:sp>
    </p:spTree>
    <p:extLst>
      <p:ext uri="{BB962C8B-B14F-4D97-AF65-F5344CB8AC3E}">
        <p14:creationId xmlns:p14="http://schemas.microsoft.com/office/powerpoint/2010/main" val="14674624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24A8B-695E-4C5F-A008-A1FBD1B8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DECISION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5BFE3-5734-4262-855D-F8FC867E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Budget guidance remains constrained and reviewable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62FAD-5094-4741-9328-D8444A83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8DAA0-EA90-4F4F-8C28-8FBCFD9B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868A4-2929-4C41-B5C0-BA5AE94E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MARKETING FOR AN AI TRAFFIC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E5322-E02A-45BA-B0C6-6A67C914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Synthetic portfolio case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6135C-EB26-4233-8AD4-DCA951F95542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428750"/>
                <a:gridCol w="1619250"/>
                <a:gridCol w="5638800"/>
              </a:tblGrid>
              <a:tr h="4572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Channel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Budget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rationale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T w="9525">
                      <a:solidFill>
                        <a:srgbClr val="C9D5DC"/>
                      </a:solidFill>
                      <a:prstDash val="solid"/>
                    </a:lnT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173A5E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Email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19.7%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€11,820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High intent and confidence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Webinars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20.2%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€12,120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Committee engagement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Search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17.2%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€10,320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Intent and volume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LinkedIn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16.5%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€9,900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Executive reach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Innovation platforms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16.4%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€9,840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Procurement relevance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Trade media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5DC"/>
                      </a:solidFill>
                      <a:prstDash val="solid"/>
                    </a:lnL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10.0%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€6,000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 lIns="76200" tIns="47625" rIns="76200" bIns="47625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Minimum exploration floor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5DC"/>
                      </a:solidFill>
                      <a:prstDash val="solid"/>
                    </a:lnR>
                    <a:lnB w="9525">
                      <a:solidFill>
                        <a:srgbClr val="C9D5DC"/>
                      </a:solidFill>
                      <a:prstDash val="soli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51935-DC78-4368-B942-B296F3EE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83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Final allocation requires sample-size, legal, procurement-stage and claims review.</a:t>
            </a:r>
          </a:p>
        </p:txBody>
      </p:sp>
    </p:spTree>
    <p:extLst>
      <p:ext uri="{BB962C8B-B14F-4D97-AF65-F5344CB8AC3E}">
        <p14:creationId xmlns:p14="http://schemas.microsoft.com/office/powerpoint/2010/main" val="6256321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B07D5B-41CE-4BEE-84E3-5D74A3F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973C2-2AD2-4BBF-A10A-EF093174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Marketing and AI claims need explicit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0F004-66D8-4940-AF72-BCD67B55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9AB07-33D0-4667-B8A5-A7F4CEE2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49A7B-E80E-4875-A9F6-89130491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MARKETING FOR AN AI TRAFFIC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AB9AC-9F2C-4FEA-83F9-9E359BF6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Synthetic portfolio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28004-B98C-4B0B-B803-C6CFCA28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3467100" cy="4000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A407B-9C2C-47DA-BA51-C2EFC6EE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3467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48A8A"/>
          </a:solidFill>
          <a:ln xmlns:a="http://schemas.openxmlformats.org/drawingml/2006/main" w="9525">
            <a:solidFill>
              <a:srgbClr val="14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3B4E3-3EC3-4DC4-A3BE-B6A3A524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Marketing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4255A-B726-41AB-BE11-4623231E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261AF-C4BE-464D-AEA7-7BC1F960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57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Purpose and lawful basis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854FA-F940-415F-AB06-8348BB38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CEC56-8FA1-4A0B-A4DA-F091B183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90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Consent-aware tag gating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0FCED-6E7E-4C27-B7F0-A13388E5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1DA5B-C2C1-4550-AA30-EAD1A354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24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Data minimisation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E3E7C-D236-481B-8737-B0E59888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CD763-8203-4860-922C-5E8D1FA4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Retention and deletion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4EBF0-7CC2-4E05-B2B8-9D5FEC49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A9BCF-164C-496D-84A8-E213BFC0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91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Aggregate public exports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50C48-240E-4F6E-B0EC-65A0C259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04950"/>
            <a:ext cx="3467100" cy="4000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B0136-0DD1-4692-90CC-11D3DCE0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04950"/>
            <a:ext cx="3467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4E7CB7"/>
          </a:solidFill>
          <a:ln xmlns:a="http://schemas.openxmlformats.org/drawingml/2006/main" w="9525">
            <a:solidFill>
              <a:srgbClr val="4E7C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805DAE-DADD-42AB-B0EE-6214B22E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954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and product claims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83C546-4503-40AA-9062-C1F8FF8B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E7C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E7C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E7C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8ED7F0-0809-4A60-86EB-9E7C356A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Intended purpose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EC4DAE-40C8-4D86-AEAB-80924DB1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E7C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E7C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E7C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2A69E5-9F24-4D7F-B6CC-F74D240A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90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Evidence status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210E9-C85E-4D11-B178-47899D42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43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E7C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E7C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E7C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16640F-E880-47F9-9614-17DC5892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24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Human oversight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4E3C8-3819-4508-AF97-B6525C03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E7C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E7C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E7CB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4340A6-037D-41B9-A9AF-A18198AC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57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Monitoring and fallback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C3DA24-7BB3-41A8-A385-38F7BD9F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10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4E7C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E7C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E7CB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B8016B-AC94-4B25-A647-C278DB16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91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Change and incident records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F3957B-BE0B-4C19-B8F6-27327FAF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3467100" cy="4000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6FACF1-5C72-4D55-8227-110986D9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3467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D66B38"/>
          </a:solidFill>
          <a:ln xmlns:a="http://schemas.openxmlformats.org/drawingml/2006/main" w="9525">
            <a:solidFill>
              <a:srgbClr val="D66B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AB4277-D2BC-4306-AFE9-4596F396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Deployment boundary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34D551-54F4-4022-B27D-785D84A1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F21836-1283-41AE-B456-0E941B3B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Safety assessment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114A17-67F1-4F1D-A453-1738C7F4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A4DB99-47C1-4F95-88A5-56D62D83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90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Security testing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72B4DC-4351-4A06-BA60-7A588F91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084029-8491-4642-B60C-3C13AC09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24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Pilot sandbox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512B9D-EE9E-4751-AFB5-698A0A2F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76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CC1215-3C1D-4494-A5A7-68298CF3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57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Rollback capability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DF1101-75E3-400A-B0FD-C3DBC980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0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2EDEA4-4027-4362-989D-03ABBC44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91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Independent legal review</a:t>
            </a:r>
          </a:p>
        </p:txBody>
      </p:sp>
    </p:spTree>
    <p:extLst>
      <p:ext uri="{BB962C8B-B14F-4D97-AF65-F5344CB8AC3E}">
        <p14:creationId xmlns:p14="http://schemas.microsoft.com/office/powerpoint/2010/main" val="2119623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DDB49C-677B-4260-8347-2DED2A42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E62F9-4085-46B2-82D1-F6E7C12F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Key risks sit across marketing and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E8675-104B-438A-B6FA-71BCA8CE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0B61C-4BF8-4E1C-9DCA-70D0267F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DAAD8-FFE4-43D8-95D8-DC22F816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MARKETING FOR AN AI TRAFFIC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0EA5A-1087-47E8-8763-545B9466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Synthetic portfolio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279D3-3A86-4E89-9645-88B7E6D2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4E784-5AF1-4C68-A3B8-0A41EDAD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Consent 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8FC0F-F9F7-479E-A2C4-CEA1F26F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90650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Optional tags fire before valid preference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16411-C575-49DF-BEFC-2E30ED98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90650"/>
            <a:ext cx="316230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F04D-58CA-4B43-AF7C-D9F8C1E8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859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Gate, test and document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733DA-98D6-42C0-90DE-E690AB8B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EDAA0-F1A8-42AD-AF5F-3B8D2853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4910D-8918-481B-A4F1-47AB91F2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43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Unsupported claims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88D8C-0AEA-493E-8A5D-745ED2E7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Simulated values appear as product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15BFF-C7AC-4DD1-A921-97BFC7B5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316230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F5230-CA76-4311-8B7F-BAF52A7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Claims register and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0FCE1-B1F6-43B2-AAB8-80E30123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48F0B-BBD6-4BF6-A849-A5ECE5F4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5D8A0D-EF43-4CDF-8AD7-9DCD906A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57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Weak attribution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CA75D-2229-4F72-A0C1-A9CA51A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One channel receives credit for a long committee journey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C3923-60F1-40D1-A9C9-CD1ED3A5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316230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12B4F5-8C61-47A2-9443-D17DE44F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Account-stage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DD499-E2A9-46CF-B37D-95F47615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D7AF71-0653-4DBD-8115-8802538E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C64E89-8CB1-4583-A207-8CCCE49B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Biased scaling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B5B1D2-7426-4406-9BF6-8FABEA9B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33850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Small samples drive large budget shifts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67E889-7780-4B87-862B-16016E8A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33850"/>
            <a:ext cx="316230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DDC13D-21FC-4B57-9E0B-75A5B08D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291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Confidence threshold and caps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C55B1A-8984-4FA4-A0AD-70442895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F256DC-DDBF-48E8-8FFF-3CD26B70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B449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B4494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4494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7F49A1-D92D-42D2-A855-2ECAA552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86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System safety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81A6DE-EB42-4A4D-A50E-8CA56F50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Live optimisation fails outside tested conditions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059E3E-0A13-4FAD-BF6D-58F77E66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48250"/>
            <a:ext cx="316230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7D5BA0-B8F0-4BC4-BE06-7FCDC546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Sandbox, fallback and override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8B37F4-4338-42E6-BC1C-748C2DF2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3395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821271-9F8B-4603-9013-7ADF52AC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83642-2F39-45D3-80AD-79B9AD57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 ninety-day plan builds evidence before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D6AA9-F5B8-49DD-AB19-2F7FCC18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88B0C-1D15-4F38-A90C-BD5CCFAC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0CC7B-E035-4A1D-AD67-E4F07F87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MARKETING FOR AN AI TRAFFIC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6F601-E285-4CC8-BA86-D3ED7E36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Synthetic portfolio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EC477-DE0E-4C49-A0E7-40CA044F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9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AA4AA-FC33-4C41-9671-063442CC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A8A"/>
          </a:solidFill>
          <a:ln xmlns:a="http://schemas.openxmlformats.org/drawingml/2006/main" w="9525">
            <a:solidFill>
              <a:srgbClr val="14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99F40-ED49-4C72-A74F-E739BC6D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C1FBC-4F09-46EA-A22D-B2AC4EBA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Days 1 to 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B7EFE-85D2-4837-9D38-3F05048C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Scope and data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D976F-E502-44A8-AEDA-A5B220D3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Approved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DF761-1DFF-4D31-832A-4B2FDE6B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7CB7"/>
          </a:solidFill>
          <a:ln xmlns:a="http://schemas.openxmlformats.org/drawingml/2006/main" w="9525">
            <a:solidFill>
              <a:srgbClr val="4E7C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C7CA0-B6D9-4EB1-BAAE-C692FFC5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051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98484-034F-4D5C-9D6B-95CC0A27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4E7C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4E7C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7CB7"/>
                </a:solidFill>
                <a:latin typeface="Arial"/>
                <a:ea typeface="Arial"/>
                <a:cs typeface="Arial"/>
              </a:rPr>
              <a:t>Days 16 to 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5B851-E4F9-4B4A-B002-AF8EED5D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Campaign registry and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DEEF9-EDB5-4949-99FC-AB7556EC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766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Launch checklist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D2EEC-7E96-4966-A652-74506B82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9B35"/>
          </a:solidFill>
          <a:ln xmlns:a="http://schemas.openxmlformats.org/drawingml/2006/main" w="9525">
            <a:solidFill>
              <a:srgbClr val="D69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D35A2-CA4C-4595-BB2C-E4B97B35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051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D3B5A-383A-46BF-BD29-5EFB2A96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D69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D69B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69B35"/>
                </a:solidFill>
                <a:latin typeface="Arial"/>
                <a:ea typeface="Arial"/>
                <a:cs typeface="Arial"/>
              </a:rPr>
              <a:t>Days 31 to 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258499-7A24-4C40-BA0D-43A59F22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098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Evidence launch and discovery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03AA0-6F05-406A-BE14-A0B4AC41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766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Qualified accounts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2F1ACD-4957-4C86-97A4-73A2CB50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6B38"/>
          </a:solidFill>
          <a:ln xmlns:a="http://schemas.openxmlformats.org/drawingml/2006/main" w="9525">
            <a:solidFill>
              <a:srgbClr val="D66B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CED7E-8CC9-4001-A238-234D39B8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051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F3A09-C4AA-468C-8B6F-EE63A1B4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907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Days 61 to 75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93CA5-D33C-4614-83B7-AAECCADE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098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Channel and claims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CE235-AB17-4198-82E5-AA496D06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766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Decision 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B105F-F2A6-4DC7-9F56-CEBB37B9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813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7A55"/>
          </a:solidFill>
          <a:ln xmlns:a="http://schemas.openxmlformats.org/drawingml/2006/main" w="9525">
            <a:solidFill>
              <a:srgbClr val="477A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6BC925-0304-449C-9CDF-952FDFCE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9051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B97E69-2278-4B2E-BF67-4E07D474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907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477A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477A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7A55"/>
                </a:solidFill>
                <a:latin typeface="Arial"/>
                <a:ea typeface="Arial"/>
                <a:cs typeface="Arial"/>
              </a:rPr>
              <a:t>Days 76 to 90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7B4A2A-187C-4510-BB58-629E10FF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Pilot case and allocation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9B9E52-98D7-492F-B97A-7C216B95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766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Pilot proposal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C23866-6C55-4460-B2BC-7445469B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2DEA4D-7ED2-4116-B2E0-167B28C4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Each phase ends with reviewable evidence. Budget and deployment decisions remain under named human owners.</a:t>
            </a:r>
          </a:p>
        </p:txBody>
      </p:sp>
    </p:spTree>
    <p:extLst>
      <p:ext uri="{BB962C8B-B14F-4D97-AF65-F5344CB8AC3E}">
        <p14:creationId xmlns:p14="http://schemas.microsoft.com/office/powerpoint/2010/main" val="18862768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59406B-ADDF-4D3E-8CDE-1402281F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E96C9-F2BD-4000-9B5D-F7DBF22D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References and responsible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D8695-27E0-4F36-A7BE-8E9205DB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7B8C0-E080-4E34-9F39-D1D4BD62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9D9CC-95F4-4F17-8749-A5D4C4D5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E6C79"/>
                </a:solidFill>
                <a:latin typeface="Arial"/>
                <a:ea typeface="Arial"/>
                <a:cs typeface="Arial"/>
              </a:rPr>
              <a:t>DIGITAL MARKETING FOR AN AI TRAFFIC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6490E-4677-4189-A716-419D33AA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67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Synthetic portfolio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81EC1-A082-4E02-8EA1-56C2BF7F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Urban mobility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4BE89-A3C4-4DF4-AED5-CCA859EF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transport.ec.europa.eu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BD8B4-B2F8-4A38-B868-D2C4277F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Intelligent transport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F6FFF-70A3-48F0-AD4E-C1A9A94C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transport.ec.europa.eu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DAEDD-5F6A-4821-B2E4-535C33B6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Innovation procurement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E93C5-2F3E-48E9-A5E3-312224C7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commission.europa.eu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1B84E-171B-46B7-B4CF-38463F34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Campaign URL parameters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CF17E-94BD-40B8-9BD7-7383F324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support.google.com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882FD-F0CE-4FD8-8740-AB605381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General Data Protection Regulation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56F47-8D28-47A9-ABC4-75D6BC6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eur-lex.europa.eu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81FF8-FA71-4041-80F4-C5CD20EF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EDPB consent guidance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337A9-6579-416F-8145-FADA8B86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edpb.europa.eu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C9A4C1-B3D9-4DB0-ABD7-C88C3286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EU Artificial Intelligence 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22EAF-3A04-4263-A3B1-490214D5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eur-lex.europa.eu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A18E1-B278-41C9-A437-A2A1DFF5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73A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A5E"/>
                </a:solidFill>
                <a:latin typeface="Arial"/>
                <a:ea typeface="Arial"/>
                <a:cs typeface="Arial"/>
              </a:rPr>
              <a:t>NIST AI RMF 1.0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1A105-FABD-4B4D-AAA7-585D4DA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E6C79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5E6C79"/>
                </a:solidFill>
                <a:latin typeface="Consolas"/>
                <a:ea typeface="Consolas"/>
                <a:cs typeface="Consolas"/>
              </a:rPr>
              <a:t>nist.gov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A7861-5B4F-434E-8884-EFCB2F28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885A7-E56A-46CE-8C7F-49A8C11C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D66B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66B38"/>
                </a:solidFill>
                <a:latin typeface="Arial"/>
                <a:ea typeface="Arial"/>
                <a:cs typeface="Arial"/>
              </a:rPr>
              <a:t>Educational portfolio artifact with synthetic data. No legal, procurement, safety or investment advice.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122395-2689-4B09-9124-BC3782D1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E6C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C79"/>
                </a:solidFill>
                <a:latin typeface="Arial"/>
                <a:ea typeface="Arial"/>
                <a:cs typeface="Arial"/>
              </a:rPr>
              <a:t>Full references, methodology, limitations and source links are included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54508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2026-10-16T08:54:37.8350000Z</dcterms:created>
  <dcterms:modified xsi:type="dcterms:W3CDTF">2026-10-16T08:54:37.8360000Z</dcterms:modified>
</coreProperties>
</file>